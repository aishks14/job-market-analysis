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591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aishsingh702@hmail.com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365760"/>
            <a:ext cx="3108960" cy="3108960"/>
          </a:xfrm>
          <a:prstGeom prst="ellipse">
            <a:avLst/>
          </a:prstGeom>
          <a:solidFill>
            <a:srgbClr val="1E3163">
              <a:alpha val="70000"/>
            </a:srgbClr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36208" y="832104"/>
            <a:ext cx="2194560" cy="2194560"/>
          </a:xfrm>
          <a:prstGeom prst="ellipse">
            <a:avLst/>
          </a:prstGeom>
          <a:solidFill>
            <a:srgbClr val="152244">
              <a:alpha val="80000"/>
            </a:srgbClr>
          </a:solidFill>
          <a:ln w="12700">
            <a:solidFill>
              <a:srgbClr val="C9DC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0972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📊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01633" y="2328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47472" y="658016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Recommendation System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17465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Science Pipeline on Upwork Job Postings</a:t>
            </a:r>
          </a:p>
          <a:p>
            <a:pPr marL="0" indent="0">
              <a:buNone/>
            </a:pP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5029200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97480"/>
            <a:ext cx="960120" cy="658368"/>
          </a:xfrm>
          <a:prstGeom prst="roundRect">
            <a:avLst>
              <a:gd name="adj" fmla="val 8333"/>
            </a:avLst>
          </a:prstGeom>
          <a:solidFill>
            <a:srgbClr val="1E3163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244,828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508760" y="2697480"/>
            <a:ext cx="960120" cy="658368"/>
          </a:xfrm>
          <a:prstGeom prst="roundRect">
            <a:avLst>
              <a:gd name="adj" fmla="val 8333"/>
            </a:avLst>
          </a:prstGeom>
          <a:solidFill>
            <a:srgbClr val="1E3163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274320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0632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0" y="2697480"/>
            <a:ext cx="960120" cy="658368"/>
          </a:xfrm>
          <a:prstGeom prst="roundRect">
            <a:avLst>
              <a:gd name="adj" fmla="val 8333"/>
            </a:avLst>
          </a:prstGeom>
          <a:solidFill>
            <a:srgbClr val="1E3163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274320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0320" y="30632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11880" y="2697480"/>
            <a:ext cx="960120" cy="658368"/>
          </a:xfrm>
          <a:prstGeom prst="roundRect">
            <a:avLst>
              <a:gd name="adj" fmla="val 8333"/>
            </a:avLst>
          </a:prstGeom>
          <a:solidFill>
            <a:srgbClr val="1E3163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274320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11880" y="30632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2697480"/>
            <a:ext cx="960120" cy="658368"/>
          </a:xfrm>
          <a:prstGeom prst="roundRect">
            <a:avLst>
              <a:gd name="adj" fmla="val 8333"/>
            </a:avLst>
          </a:prstGeom>
          <a:solidFill>
            <a:srgbClr val="1E3163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743200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3063240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" y="44348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·  2024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1261872" cy="237744"/>
          </a:xfrm>
          <a:prstGeom prst="roundRect">
            <a:avLst>
              <a:gd name="adj" fmla="val 15385"/>
            </a:avLst>
          </a:prstGeom>
          <a:solidFill>
            <a:srgbClr val="152244"/>
          </a:solidFill>
          <a:ln w="8890">
            <a:solidFill>
              <a:srgbClr val="8BA3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14800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10512" y="4114800"/>
            <a:ext cx="1261872" cy="237744"/>
          </a:xfrm>
          <a:prstGeom prst="roundRect">
            <a:avLst>
              <a:gd name="adj" fmla="val 15385"/>
            </a:avLst>
          </a:prstGeom>
          <a:solidFill>
            <a:srgbClr val="152244"/>
          </a:solidFill>
          <a:ln w="8890">
            <a:solidFill>
              <a:srgbClr val="8BA3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10512" y="4114800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163824" y="4114800"/>
            <a:ext cx="1261872" cy="237744"/>
          </a:xfrm>
          <a:prstGeom prst="roundRect">
            <a:avLst>
              <a:gd name="adj" fmla="val 15385"/>
            </a:avLst>
          </a:prstGeom>
          <a:solidFill>
            <a:srgbClr val="152244"/>
          </a:solidFill>
          <a:ln w="8890">
            <a:solidFill>
              <a:srgbClr val="8BA3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63824" y="4114800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17136" y="4114800"/>
            <a:ext cx="1261872" cy="237744"/>
          </a:xfrm>
          <a:prstGeom prst="roundRect">
            <a:avLst>
              <a:gd name="adj" fmla="val 15385"/>
            </a:avLst>
          </a:prstGeom>
          <a:solidFill>
            <a:srgbClr val="152244"/>
          </a:solidFill>
          <a:ln w="8890">
            <a:solidFill>
              <a:srgbClr val="8BA3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17136" y="4114800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870448" y="4114800"/>
            <a:ext cx="1261872" cy="237744"/>
          </a:xfrm>
          <a:prstGeom prst="roundRect">
            <a:avLst>
              <a:gd name="adj" fmla="val 15385"/>
            </a:avLst>
          </a:prstGeom>
          <a:solidFill>
            <a:srgbClr val="152244"/>
          </a:solidFill>
          <a:ln w="8890">
            <a:solidFill>
              <a:srgbClr val="8BA3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70448" y="4114800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223760" y="4114800"/>
            <a:ext cx="1261872" cy="237744"/>
          </a:xfrm>
          <a:prstGeom prst="roundRect">
            <a:avLst>
              <a:gd name="adj" fmla="val 15385"/>
            </a:avLst>
          </a:prstGeom>
          <a:solidFill>
            <a:srgbClr val="152244"/>
          </a:solidFill>
          <a:ln w="8890">
            <a:solidFill>
              <a:srgbClr val="8BA3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4114800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800" dirty="0"/>
          </a:p>
        </p:txBody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0B3E44E3-A216-2EEB-167F-A0A125442015}"/>
              </a:ext>
            </a:extLst>
          </p:cNvPr>
          <p:cNvSpPr/>
          <p:nvPr/>
        </p:nvSpPr>
        <p:spPr>
          <a:xfrm>
            <a:off x="420624" y="22219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DC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itchFamily="34" charset="-122"/>
                <a:cs typeface="Calibri" pitchFamily="34" charset="-120"/>
              </a:rPr>
              <a:t>Aishwarya Kumar Singh </a:t>
            </a:r>
          </a:p>
          <a:p>
            <a:pPr marL="0" indent="0">
              <a:buNone/>
            </a:pPr>
            <a:r>
              <a:rPr lang="en-US" sz="1350" b="1" dirty="0">
                <a:solidFill>
                  <a:srgbClr val="C9DC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itchFamily="34" charset="-122"/>
                <a:cs typeface="Calibri" pitchFamily="34" charset="-120"/>
              </a:rPr>
              <a:t>Intern – </a:t>
            </a:r>
            <a:r>
              <a:rPr lang="en-US" sz="1350" b="1" dirty="0" err="1">
                <a:solidFill>
                  <a:srgbClr val="C9DC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itchFamily="34" charset="-122"/>
                <a:cs typeface="Calibri" pitchFamily="34" charset="-120"/>
              </a:rPr>
              <a:t>NextHikes</a:t>
            </a:r>
            <a:r>
              <a:rPr lang="en-US" sz="1350" b="1" dirty="0">
                <a:solidFill>
                  <a:srgbClr val="C9DC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itchFamily="34" charset="-122"/>
                <a:cs typeface="Calibri" pitchFamily="34" charset="-120"/>
              </a:rPr>
              <a:t> IT Solutions</a:t>
            </a:r>
          </a:p>
          <a:p>
            <a:pPr marL="0" indent="0">
              <a:buNone/>
            </a:pPr>
            <a:r>
              <a:rPr lang="en-US" sz="1350" b="1" dirty="0">
                <a:solidFill>
                  <a:srgbClr val="C9DC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libri" pitchFamily="34" charset="-122"/>
                <a:cs typeface="Calibri" pitchFamily="34" charset="-120"/>
              </a:rPr>
              <a:t>April 2026</a:t>
            </a:r>
          </a:p>
          <a:p>
            <a:pPr marL="0" indent="0">
              <a:buNone/>
            </a:pPr>
            <a:endParaRPr lang="en-US" sz="1350" b="1" dirty="0">
              <a:solidFill>
                <a:srgbClr val="C9DC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Motivation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4023360" cy="3246120"/>
          </a:xfrm>
          <a:prstGeom prst="rect">
            <a:avLst/>
          </a:prstGeom>
          <a:solidFill>
            <a:srgbClr val="1E3163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53312"/>
            <a:ext cx="4023360" cy="34747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533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job markets generate millions of daily postings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Freelancers struggle to find the right match for their skills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signal on which skills/domains earn more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to manually track 244K+ job trends in real-time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demand across 13 categories is completely opaque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53312"/>
            <a:ext cx="4023360" cy="3246120"/>
          </a:xfrm>
          <a:prstGeom prst="rect">
            <a:avLst/>
          </a:prstGeom>
          <a:solidFill>
            <a:srgbClr val="1E316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53312"/>
            <a:ext cx="402336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533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78308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244,828 real Upwork postings (Nov 2023–Mar 2024)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EDA: Univariate, Bivariate, Multivariate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Spearman to decode keyword-salary links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 demand forecasting per category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recommendation engine (TF-IDF + cosine)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Streamlit web application for real-time use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52244"/>
          </a:solidFill>
          <a:ln w="12700">
            <a:solidFill>
              <a:srgbClr val="1522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8289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&amp; Recommendation System  ·  Upwork 244,828 Records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12480" y="488289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sections · Five notebooks · One live 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60520" cy="1024128"/>
          </a:xfrm>
          <a:prstGeom prst="rect">
            <a:avLst/>
          </a:prstGeom>
          <a:solidFill>
            <a:srgbClr val="1E3163"/>
          </a:solidFill>
          <a:ln w="6350">
            <a:solidFill>
              <a:srgbClr val="1522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566928" cy="102412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5669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" y="14081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&amp; Goals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177393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objectives, 8 tasks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450592"/>
            <a:ext cx="4160520" cy="1024128"/>
          </a:xfrm>
          <a:prstGeom prst="rect">
            <a:avLst/>
          </a:prstGeom>
          <a:solidFill>
            <a:srgbClr val="1E3163"/>
          </a:solidFill>
          <a:ln w="6350">
            <a:solidFill>
              <a:srgbClr val="1522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50592"/>
            <a:ext cx="566928" cy="10241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450592"/>
            <a:ext cx="5669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24128" y="25786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Project Structure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4128" y="294436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244,828 rows, folder layout, tech stack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621024"/>
            <a:ext cx="4160520" cy="1024128"/>
          </a:xfrm>
          <a:prstGeom prst="rect">
            <a:avLst/>
          </a:prstGeom>
          <a:solidFill>
            <a:srgbClr val="1E3163"/>
          </a:solidFill>
          <a:ln w="6350">
            <a:solidFill>
              <a:srgbClr val="1522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21024"/>
            <a:ext cx="566928" cy="102412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21024"/>
            <a:ext cx="5669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4128" y="3749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Feature Engineering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4128" y="41148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NB01 — 9 new features, category classifier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1280160"/>
            <a:ext cx="4160520" cy="1024128"/>
          </a:xfrm>
          <a:prstGeom prst="rect">
            <a:avLst/>
          </a:prstGeom>
          <a:solidFill>
            <a:srgbClr val="1E3163"/>
          </a:solidFill>
          <a:ln w="6350">
            <a:solidFill>
              <a:srgbClr val="1522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280160"/>
            <a:ext cx="566928" cy="10241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280160"/>
            <a:ext cx="5669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58968" y="14081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58968" y="177393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NB02 — Univariate, Bivariate, Multivariate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2450592"/>
            <a:ext cx="4160520" cy="1024128"/>
          </a:xfrm>
          <a:prstGeom prst="rect">
            <a:avLst/>
          </a:prstGeom>
          <a:solidFill>
            <a:srgbClr val="1E3163"/>
          </a:solidFill>
          <a:ln w="6350">
            <a:solidFill>
              <a:srgbClr val="1522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2450592"/>
            <a:ext cx="566928" cy="102412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450592"/>
            <a:ext cx="5669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58968" y="25786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Correlation &amp; Country Analysis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58968" y="294436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NB03 — TF-IDF + Spearman, geo rates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3621024"/>
            <a:ext cx="4160520" cy="1024128"/>
          </a:xfrm>
          <a:prstGeom prst="rect">
            <a:avLst/>
          </a:prstGeom>
          <a:solidFill>
            <a:srgbClr val="1E3163"/>
          </a:solidFill>
          <a:ln w="6350">
            <a:solidFill>
              <a:srgbClr val="1522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621024"/>
            <a:ext cx="566928" cy="10241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621024"/>
            <a:ext cx="5669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458968" y="3749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 &amp; Recommendation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58968" y="41148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NB04–05 — Forecasting + Streamlit App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52244"/>
          </a:solidFill>
          <a:ln w="12700">
            <a:solidFill>
              <a:srgbClr val="1522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8289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&amp; Recommendation System  ·  Upwork 244,828 Records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412480" y="488289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8 Project Tasks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 answered by a specific notebook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2011680" cy="1536192"/>
          </a:xfrm>
          <a:prstGeom prst="rect">
            <a:avLst/>
          </a:prstGeom>
          <a:solidFill>
            <a:srgbClr val="1E3163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14984" y="1444752"/>
            <a:ext cx="621792" cy="6217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1444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305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↔ Salary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43230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title keywords predict higher pay?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68880" y="1353312"/>
            <a:ext cx="2011680" cy="1536192"/>
          </a:xfrm>
          <a:prstGeom prst="rect">
            <a:avLst/>
          </a:prstGeom>
          <a:solidFill>
            <a:srgbClr val="1E3163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63824" y="1444752"/>
            <a:ext cx="621792" cy="6217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63824" y="1444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1305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Categories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60320" y="243230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job domains are growing fastest?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17720" y="1353312"/>
            <a:ext cx="2011680" cy="1536192"/>
          </a:xfrm>
          <a:prstGeom prst="rect">
            <a:avLst/>
          </a:prstGeom>
          <a:solidFill>
            <a:srgbClr val="1E3163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12664" y="1444752"/>
            <a:ext cx="621792" cy="6217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2664" y="1444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1305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Prediction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60" y="243230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roles will be hottest in 6 weeks?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66560" y="1353312"/>
            <a:ext cx="2011680" cy="1536192"/>
          </a:xfrm>
          <a:prstGeom prst="rect">
            <a:avLst/>
          </a:prstGeom>
          <a:solidFill>
            <a:srgbClr val="1E3163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61504" y="1444752"/>
            <a:ext cx="621792" cy="6217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61504" y="144475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13055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Rates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0" y="243230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hourly rates differ by country?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072384"/>
            <a:ext cx="2011680" cy="1536192"/>
          </a:xfrm>
          <a:prstGeom prst="rect">
            <a:avLst/>
          </a:prstGeom>
          <a:solidFill>
            <a:srgbClr val="1E3163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14984" y="3163824"/>
            <a:ext cx="621792" cy="6217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4984" y="31638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38496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Recommendation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1480" y="41513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 skill query to best current jobs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68880" y="3072384"/>
            <a:ext cx="2011680" cy="1536192"/>
          </a:xfrm>
          <a:prstGeom prst="rect">
            <a:avLst/>
          </a:prstGeom>
          <a:solidFill>
            <a:srgbClr val="1E3163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63824" y="3163824"/>
            <a:ext cx="621792" cy="6217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63824" y="31638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60320" y="38496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Dynamics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560320" y="41513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postings shift month-over-month?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17720" y="3072384"/>
            <a:ext cx="2011680" cy="1536192"/>
          </a:xfrm>
          <a:prstGeom prst="rect">
            <a:avLst/>
          </a:prstGeom>
          <a:solidFill>
            <a:srgbClr val="1E3163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312664" y="3163824"/>
            <a:ext cx="621792" cy="6217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12664" y="31638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09160" y="38496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Trends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09160" y="41513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roles signal remote work most?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766560" y="3072384"/>
            <a:ext cx="2011680" cy="1536192"/>
          </a:xfrm>
          <a:prstGeom prst="rect">
            <a:avLst/>
          </a:prstGeom>
          <a:solidFill>
            <a:srgbClr val="1E3163"/>
          </a:solidFill>
          <a:ln w="1016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461504" y="3163824"/>
            <a:ext cx="621792" cy="6217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61504" y="31638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58000" y="38496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Predictions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58000" y="41513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next quarter look like?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52244"/>
          </a:solidFill>
          <a:ln w="12700">
            <a:solidFill>
              <a:srgbClr val="1522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88289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&amp; Recommendation System  ·  Upwork 244,828 Records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412480" y="488289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Folder Structure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raw columns · 17 after feature engineering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977640" cy="3291840"/>
          </a:xfrm>
          <a:prstGeom prst="rect">
            <a:avLst/>
          </a:prstGeom>
          <a:solidFill>
            <a:srgbClr val="1E3163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3977640" cy="32918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2588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Columns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7373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0" y="173736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 title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0848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11680" y="208483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to Upwork job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43230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published_date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11680" y="243230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 timestamp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277977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is_hourly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11680" y="277977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vs Fixed-Price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312724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hourly_low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11680" y="312724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hourly rate (USD)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34747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hourly_high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11680" y="34747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hourly rate (USD)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" y="382219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11680" y="382219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Fixed-price budget (USD)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" y="41696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11680" y="416966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country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1325880"/>
            <a:ext cx="4114800" cy="3291840"/>
          </a:xfrm>
          <a:prstGeom prst="rect">
            <a:avLst/>
          </a:prstGeom>
          <a:solidFill>
            <a:srgbClr val="1E316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325880"/>
            <a:ext cx="4114800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3258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1737360"/>
            <a:ext cx="384048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job_market_project/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notebooks/         ← 5 Jupyter notebooks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01_Data_Ingestion...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02_EDA_Univariate...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03_Salary_Correlation...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04_Emerging_Categories...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8BA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05_Recommendation...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data/raw/           ← 244,828 raw records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data/processed/     ← cleaned dataset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models/             ← pkl + npz files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assets/             ← 22 charts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logs/               ← per-notebook logs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C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deployment/app.py   ← Streamlit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52244"/>
          </a:solidFill>
          <a:ln w="12700">
            <a:solidFill>
              <a:srgbClr val="1522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8289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&amp; Recommendation System  ·  Upwork 244,828 Records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12480" y="488289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&amp; Cleaning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Dual-output logging · 9 new features · Category classifier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697480" cy="3337560"/>
          </a:xfrm>
          <a:prstGeom prst="rect">
            <a:avLst/>
          </a:prstGeom>
          <a:solidFill>
            <a:srgbClr val="1E3163"/>
          </a:solidFill>
          <a:ln w="1905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389888"/>
            <a:ext cx="685800" cy="685800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3898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Audit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5786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244,828 rows × 8 columns loaded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29992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Null audit per column logged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341985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5,077 missing countries filled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1 fully-null row dropped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298448"/>
            <a:ext cx="2697480" cy="3337560"/>
          </a:xfrm>
          <a:prstGeom prst="rect">
            <a:avLst/>
          </a:prstGeom>
          <a:solidFill>
            <a:srgbClr val="1E3163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51960" y="1389888"/>
            <a:ext cx="685800" cy="6858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13898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217627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10712" y="25786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avg_hourly = mean(low, high)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10712" y="29992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budget_capped @ 99.5th pct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10712" y="341985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year_month, week, day_of_week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10712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job_type label: Hourly / Fixed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298448"/>
            <a:ext cx="2697480" cy="3337560"/>
          </a:xfrm>
          <a:prstGeom prst="rect">
            <a:avLst/>
          </a:prstGeom>
          <a:solidFill>
            <a:srgbClr val="1E3163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32320" y="1389888"/>
            <a:ext cx="685800" cy="6858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13898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17920" y="217627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Classifier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91072" y="25786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13 domain categories defined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91072" y="29992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Keyword-match on each title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91072" y="341985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First match wins — 'Other' fallback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91072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Web Dev = 34% · Blockchain growing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663440"/>
            <a:ext cx="8412480" cy="164592"/>
          </a:xfrm>
          <a:prstGeom prst="rect">
            <a:avLst/>
          </a:prstGeom>
          <a:solidFill>
            <a:srgbClr val="152244"/>
          </a:solidFill>
          <a:ln w="12700">
            <a:solidFill>
              <a:srgbClr val="1522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66344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logger.info() → one call writes to Jupyter console AND logs/01_data_ingestion.log simultaneously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52244"/>
          </a:solidFill>
          <a:ln w="12700">
            <a:solidFill>
              <a:srgbClr val="1522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8289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&amp; Recommendation System  ·  Upwork 244,828 Records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412480" y="488289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02 — EDA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Examining each variable in isolation — 5 charts (A1–A5)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Univariate Findings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18488"/>
            <a:ext cx="320040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Hourly jobs vs. 43% Fixed-Price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dominates — 34% of all postings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hourly rate: $15/hr (mean $17.34/hr)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154680"/>
            <a:ext cx="768096" cy="960120"/>
          </a:xfrm>
          <a:prstGeom prst="rect">
            <a:avLst/>
          </a:prstGeom>
          <a:solidFill>
            <a:srgbClr val="1E3163"/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3154680"/>
            <a:ext cx="768096" cy="54864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200400"/>
            <a:ext cx="768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694176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207008" y="3154680"/>
            <a:ext cx="768096" cy="960120"/>
          </a:xfrm>
          <a:prstGeom prst="rect">
            <a:avLst/>
          </a:prstGeom>
          <a:solidFill>
            <a:srgbClr val="1E3163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7008" y="3154680"/>
            <a:ext cx="768096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200400"/>
            <a:ext cx="768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07008" y="3694176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048256" y="3154680"/>
            <a:ext cx="768096" cy="960120"/>
          </a:xfrm>
          <a:prstGeom prst="rect">
            <a:avLst/>
          </a:prstGeom>
          <a:solidFill>
            <a:srgbClr val="1E3163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48256" y="3154680"/>
            <a:ext cx="768096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48256" y="3200400"/>
            <a:ext cx="768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$15/hr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48256" y="3694176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889504" y="3154680"/>
            <a:ext cx="768096" cy="960120"/>
          </a:xfrm>
          <a:prstGeom prst="rect">
            <a:avLst/>
          </a:prstGeom>
          <a:solidFill>
            <a:srgbClr val="1E3163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89504" y="3154680"/>
            <a:ext cx="768096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504" y="3200400"/>
            <a:ext cx="7680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89504" y="3694176"/>
            <a:ext cx="7680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Day</a:t>
            </a:r>
            <a:endParaRPr lang="en-US" sz="850" dirty="0"/>
          </a:p>
        </p:txBody>
      </p:sp>
      <p:pic>
        <p:nvPicPr>
          <p:cNvPr id="24" name="Image 0" descr="/tmp/job_market_project/job-market-analysis-pro-8/assets/A1_job_typ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298448"/>
            <a:ext cx="5074920" cy="301752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25" name="Text 22"/>
          <p:cNvSpPr/>
          <p:nvPr/>
        </p:nvSpPr>
        <p:spPr>
          <a:xfrm>
            <a:off x="3703320" y="4334256"/>
            <a:ext cx="5074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A1 — Job Type Distribution (Pie + Bar)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52244"/>
          </a:solidFill>
          <a:ln w="12700">
            <a:solidFill>
              <a:srgbClr val="1522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88289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&amp; Recommendation System  ·  Upwork 244,828 Records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412480" y="488289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02 — EDA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— Category &amp; Temporal Patterns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A2 &amp; A5</a:t>
            </a:r>
            <a:endParaRPr lang="en-US" sz="1300" dirty="0"/>
          </a:p>
        </p:txBody>
      </p:sp>
      <p:pic>
        <p:nvPicPr>
          <p:cNvPr id="6" name="Image 0" descr="/tmp/job_market_project/job-market-analysis-pro-8/assets/A2_category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98448"/>
            <a:ext cx="4480560" cy="30632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320040" y="4370832"/>
            <a:ext cx="4480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— Category Distribution (Horizontal Bar)</a:t>
            </a:r>
            <a:endParaRPr lang="en-US" sz="800" dirty="0"/>
          </a:p>
        </p:txBody>
      </p:sp>
      <p:pic>
        <p:nvPicPr>
          <p:cNvPr id="8" name="Image 1" descr="/tmp/job_market_project/job-market-analysis-pro-8/assets/A5_temporal_patter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98448"/>
            <a:ext cx="3749040" cy="30632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5029200" y="437083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— Monthly Volume &amp; Day-of-Week Patterns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52244"/>
          </a:solidFill>
          <a:ln w="12700">
            <a:solidFill>
              <a:srgbClr val="15224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488289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&amp; Recommendation System  ·  Upwork 244,828 Records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412480" y="488289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02 — EDA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relationships — 5 charts (B1–B5)</a:t>
            </a:r>
            <a:endParaRPr lang="en-US" sz="1300" dirty="0"/>
          </a:p>
        </p:txBody>
      </p:sp>
      <p:pic>
        <p:nvPicPr>
          <p:cNvPr id="6" name="Image 0" descr="/tmp/job_market_project/job-market-analysis-pro-8/assets/B1_hourly_rate_by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80159"/>
            <a:ext cx="5349240" cy="3200401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214533" y="4498847"/>
            <a:ext cx="5349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— Hourly Rate by Category (Box Plot, sorted by median)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943600" y="1280160"/>
            <a:ext cx="2880360" cy="3200400"/>
          </a:xfrm>
          <a:prstGeom prst="rect">
            <a:avLst/>
          </a:prstGeom>
          <a:solidFill>
            <a:srgbClr val="1E3163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0" y="1371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Insights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0" y="17190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DevOps/Cloud: ~$28/hr median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035040" y="2157984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 Science/AI: ~$24/hr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035040" y="2596896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Customer Support: ~$9/hr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35040" y="303580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Australia pays 50% above global median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035040" y="347472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Fixed budgets span 4 orders of magnitude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35040" y="391363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Blockchain category rising since Jan 2024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52244"/>
          </a:solidFill>
          <a:ln w="12700">
            <a:solidFill>
              <a:srgbClr val="1522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488289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&amp; Recommendation System  ·  Upwork 244,828 Records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412480" y="488289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02 — EDA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— Country Rates &amp; Compensation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B3 &amp; B4</a:t>
            </a:r>
            <a:endParaRPr lang="en-US" sz="1300" dirty="0"/>
          </a:p>
        </p:txBody>
      </p:sp>
      <p:pic>
        <p:nvPicPr>
          <p:cNvPr id="6" name="Image 0" descr="/tmp/job_market_project/job-market-analysis-pro-8/assets/B3_country_hourly_r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80160"/>
            <a:ext cx="4389120" cy="31546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320040" y="4434840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— Top 20 Countries by Median Hourly Rate</a:t>
            </a:r>
            <a:endParaRPr lang="en-US" sz="800" dirty="0"/>
          </a:p>
        </p:txBody>
      </p:sp>
      <p:pic>
        <p:nvPicPr>
          <p:cNvPr id="8" name="Image 1" descr="/tmp/job_market_project/job-market-analysis-pro-8/assets/B4_jobtype_vs_compens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280160"/>
            <a:ext cx="3840480" cy="31546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4983480" y="44348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— Job Type vs Compensation (Strip + Box Overlay)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52244"/>
          </a:solidFill>
          <a:ln w="12700">
            <a:solidFill>
              <a:srgbClr val="15224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488289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&amp; Recommendation System  ·  Upwork 244,828 Records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412480" y="488289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02 — EDA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variable interactions simultaneously — 5 charts (C1–C5)</a:t>
            </a:r>
            <a:endParaRPr lang="en-US" sz="1300" dirty="0"/>
          </a:p>
        </p:txBody>
      </p:sp>
      <p:pic>
        <p:nvPicPr>
          <p:cNvPr id="6" name="Image 0" descr="/tmp/job_market_project/job-market-analysis-pro-8/assets/C1_country_category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61872"/>
            <a:ext cx="5349240" cy="320040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225083" y="4461569"/>
            <a:ext cx="5349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— Country × Category Median Hourly Rate Heatmap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943600" y="1261872"/>
            <a:ext cx="2880360" cy="3200400"/>
          </a:xfrm>
          <a:prstGeom prst="rect">
            <a:avLst/>
          </a:prstGeom>
          <a:solidFill>
            <a:srgbClr val="1E316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0" y="135331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Insights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0" y="1700784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DevOps/Australia = $35+/hr sweet spot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035040" y="2139696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Data Science/USA = $30/hr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035040" y="257860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Tue–Wed 08–14 UTC = peak window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35040" y="301752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Writing/Hourly has most remote signals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035040" y="345643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Blockchain band widening since Week 5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035040" y="3895344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Remote signal: 14.2% in Writing/Hourly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52244"/>
          </a:solidFill>
          <a:ln w="12700">
            <a:solidFill>
              <a:srgbClr val="1522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488289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&amp; Recommendation System  ·  Upwork 244,828 Records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412480" y="488289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02 — EDA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— Temporal &amp; Remote Signals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C3 &amp; C4</a:t>
            </a:r>
            <a:endParaRPr lang="en-US" sz="1300" dirty="0"/>
          </a:p>
        </p:txBody>
      </p:sp>
      <p:pic>
        <p:nvPicPr>
          <p:cNvPr id="6" name="Image 0" descr="/tmp/job_market_project/job-market-analysis-pro-8/assets/C3_weekly_stacked_ar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61872"/>
            <a:ext cx="5349240" cy="31546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320040" y="4416552"/>
            <a:ext cx="5349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— Weekly Stacked Postings: Category × Time × Volume</a:t>
            </a:r>
            <a:endParaRPr lang="en-US" sz="800" dirty="0"/>
          </a:p>
        </p:txBody>
      </p:sp>
      <p:pic>
        <p:nvPicPr>
          <p:cNvPr id="8" name="Image 1" descr="/tmp/job_market_project/job-market-analysis-pro-8/assets/C4_day_hour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261872"/>
            <a:ext cx="2971800" cy="31546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5852160" y="4416552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— Posting Frequency: Day × Hour Heatmap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52244"/>
          </a:solidFill>
          <a:ln w="12700">
            <a:solidFill>
              <a:srgbClr val="15224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488289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&amp; Recommendation System  ·  Upwork 244,828 Records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412480" y="488289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Correlation — Keyword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Spearman Rank Correlation on 102,422 hourly jobs</a:t>
            </a:r>
            <a:endParaRPr lang="en-US" sz="1300" dirty="0"/>
          </a:p>
        </p:txBody>
      </p:sp>
      <p:pic>
        <p:nvPicPr>
          <p:cNvPr id="6" name="Image 0" descr="/tmp/job_market_project/job-market-analysis-pro-8/assets/D1_keyword_salary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61872"/>
            <a:ext cx="4343400" cy="33832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320040" y="4645152"/>
            <a:ext cx="4343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— Spearman ρ: Keyword ↔ Hourly Rate (p&lt;0.05 only)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937760" y="1261872"/>
            <a:ext cx="3886200" cy="1417320"/>
          </a:xfrm>
          <a:prstGeom prst="rect">
            <a:avLst/>
          </a:prstGeom>
          <a:solidFill>
            <a:srgbClr val="1E3163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74920" y="13350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74920" y="1609344"/>
            <a:ext cx="35661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TF-IDF: 100 features, unigrams+bigrams, min_df=20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 chosen — salary is right-skewed (non-normal)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of 100 features significant at p&lt;0.05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37760" y="2788920"/>
            <a:ext cx="3886200" cy="338328"/>
          </a:xfrm>
          <a:prstGeom prst="rect">
            <a:avLst/>
          </a:prstGeom>
          <a:solidFill>
            <a:srgbClr val="1E3163"/>
          </a:solidFill>
          <a:ln w="8890">
            <a:solidFill>
              <a:srgbClr val="2ECC7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280720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"machine learning"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452360" y="280720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+0.183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937760" y="3172968"/>
            <a:ext cx="3886200" cy="338328"/>
          </a:xfrm>
          <a:prstGeom prst="rect">
            <a:avLst/>
          </a:prstGeom>
          <a:solidFill>
            <a:srgbClr val="1E3163"/>
          </a:solidFill>
          <a:ln w="8890">
            <a:solidFill>
              <a:srgbClr val="2ECC7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3191256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"aws"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452360" y="3191256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+0.141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937760" y="3557016"/>
            <a:ext cx="3886200" cy="338328"/>
          </a:xfrm>
          <a:prstGeom prst="rect">
            <a:avLst/>
          </a:prstGeom>
          <a:solidFill>
            <a:srgbClr val="1E3163"/>
          </a:solidFill>
          <a:ln w="8890">
            <a:solidFill>
              <a:srgbClr val="2ECC7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0" y="3575304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"architect"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452360" y="357530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+0.129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937760" y="3941064"/>
            <a:ext cx="3886200" cy="338328"/>
          </a:xfrm>
          <a:prstGeom prst="rect">
            <a:avLst/>
          </a:prstGeom>
          <a:solidFill>
            <a:srgbClr val="1E3163"/>
          </a:solidFill>
          <a:ln w="8890">
            <a:solidFill>
              <a:srgbClr val="E74C3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0" y="3959352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"data entry"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452360" y="3959352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−0.214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937760" y="4325112"/>
            <a:ext cx="3886200" cy="338328"/>
          </a:xfrm>
          <a:prstGeom prst="rect">
            <a:avLst/>
          </a:prstGeom>
          <a:solidFill>
            <a:srgbClr val="1E3163"/>
          </a:solidFill>
          <a:ln w="8890">
            <a:solidFill>
              <a:srgbClr val="E74C3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0" y="434340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"virtual assistant"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452360" y="43434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−0.178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52244"/>
          </a:solidFill>
          <a:ln w="12700">
            <a:solidFill>
              <a:srgbClr val="1522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488289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&amp; Recommendation System  ·  Upwork 244,828 Records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412480" y="488289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Rate Analysis &amp;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 countries ranked · 10×6 cross-tabulation heatmap</a:t>
            </a:r>
            <a:endParaRPr lang="en-US" sz="1300" dirty="0"/>
          </a:p>
        </p:txBody>
      </p:sp>
      <p:pic>
        <p:nvPicPr>
          <p:cNvPr id="6" name="Image 0" descr="/tmp/job_market_project/job-market-analysis-pro-8/assets/D2_country_hourly_r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61872"/>
            <a:ext cx="4297680" cy="32918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320040" y="4553712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— Top 20 Countries by Median Hourly Rate</a:t>
            </a:r>
            <a:endParaRPr lang="en-US" sz="800" dirty="0"/>
          </a:p>
        </p:txBody>
      </p:sp>
      <p:pic>
        <p:nvPicPr>
          <p:cNvPr id="8" name="Image 1" descr="/tmp/job_market_project/job-market-analysis-pro-8/assets/D3_country_category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61872"/>
            <a:ext cx="3931920" cy="32918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4892040" y="455371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— Median Rate Heatmap: Country × Category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52244"/>
          </a:solidFill>
          <a:ln w="12700">
            <a:solidFill>
              <a:srgbClr val="15224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488289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&amp; Recommendation System  ·  Upwork 244,828 Records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412480" y="488289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Categories &amp; Growth Rates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4 weeks vs. Last 4 weeks comparison</a:t>
            </a:r>
            <a:endParaRPr lang="en-US" sz="1300" dirty="0"/>
          </a:p>
        </p:txBody>
      </p:sp>
      <p:pic>
        <p:nvPicPr>
          <p:cNvPr id="6" name="Image 0" descr="/tmp/job_market_project/job-market-analysis-pro-8/assets/E1_category_growth_r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61872"/>
            <a:ext cx="5349240" cy="283464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320040" y="4096512"/>
            <a:ext cx="5349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 — Category Growth Rate % (Last 4wks vs First 4wks)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943600" y="1261872"/>
            <a:ext cx="2880360" cy="676656"/>
          </a:xfrm>
          <a:prstGeom prst="rect">
            <a:avLst/>
          </a:prstGeom>
          <a:solidFill>
            <a:srgbClr val="1E3163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0" y="1261872"/>
            <a:ext cx="54864" cy="67665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9904" y="12984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Blockchain/Crypto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89904" y="15910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635240" y="1298448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943600" y="2029968"/>
            <a:ext cx="2880360" cy="676656"/>
          </a:xfrm>
          <a:prstGeom prst="rect">
            <a:avLst/>
          </a:prstGeom>
          <a:solidFill>
            <a:srgbClr val="1E3163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0" y="2029968"/>
            <a:ext cx="54864" cy="67665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9904" y="206654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Science/AI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89904" y="23591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635240" y="2066544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943600" y="2798064"/>
            <a:ext cx="2880360" cy="676656"/>
          </a:xfrm>
          <a:prstGeom prst="rect">
            <a:avLst/>
          </a:prstGeom>
          <a:solidFill>
            <a:srgbClr val="1E3163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3600" y="2798064"/>
            <a:ext cx="54864" cy="67665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9904" y="28346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DevOps/Cloud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089904" y="31272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635240" y="28346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943600" y="3566160"/>
            <a:ext cx="2880360" cy="676656"/>
          </a:xfrm>
          <a:prstGeom prst="rect">
            <a:avLst/>
          </a:prstGeom>
          <a:solidFill>
            <a:srgbClr val="1E3163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43600" y="3566160"/>
            <a:ext cx="54864" cy="67665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89904" y="36027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Writing/Content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089904" y="38953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635240" y="360273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−7%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5943600" y="4334256"/>
            <a:ext cx="2880360" cy="676656"/>
          </a:xfrm>
          <a:prstGeom prst="rect">
            <a:avLst/>
          </a:prstGeom>
          <a:solidFill>
            <a:srgbClr val="1E3163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943600" y="4334256"/>
            <a:ext cx="54864" cy="67665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89904" y="43708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089904" y="46634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635240" y="4370832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−10%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52244"/>
          </a:solidFill>
          <a:ln w="12700">
            <a:solidFill>
              <a:srgbClr val="15224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74320" y="488289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&amp; Recommendation System  ·  Upwork 244,828 Records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8412480" y="488289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6-Week Demand Forecasting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 (Degree=2) per category · 13 models saved</a:t>
            </a:r>
            <a:endParaRPr lang="en-US" sz="1300" dirty="0"/>
          </a:p>
        </p:txBody>
      </p:sp>
      <p:pic>
        <p:nvPicPr>
          <p:cNvPr id="6" name="Image 0" descr="/tmp/job_market_project/job-market-analysis-pro-8/assets/E2_weekly_stacked_ar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61872"/>
            <a:ext cx="5349240" cy="320040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320040" y="4462272"/>
            <a:ext cx="5349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— Weekly Stacked Posting Volume by Category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943600" y="1261872"/>
            <a:ext cx="2880360" cy="3200400"/>
          </a:xfrm>
          <a:prstGeom prst="rect">
            <a:avLst/>
          </a:prstGeom>
          <a:solidFill>
            <a:srgbClr val="1E3163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0" y="135331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Details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35040" y="171907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086600" y="1719072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PolynomialFeatures (deg=2)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LinearRegression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035040" y="2194560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086600" y="2194560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[week_idx, week_idx²]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035040" y="2670048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086600" y="2670048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posting count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035040" y="3145536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086600" y="3145536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weeks ahead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035040" y="3621024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086600" y="3621024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+ R² per model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035040" y="4096512"/>
            <a:ext cx="1005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086600" y="4096512"/>
            <a:ext cx="1600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× forecast_&lt;Cat&gt;.pkl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52244"/>
          </a:solidFill>
          <a:ln w="12700">
            <a:solidFill>
              <a:srgbClr val="1522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88289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&amp; Recommendation System  ·  Upwork 244,828 Records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412480" y="488289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Recommendation Engine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 + Cosine Similarity · 60,000 recent jobs indexed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1572768" cy="1188720"/>
          </a:xfrm>
          <a:prstGeom prst="rect">
            <a:avLst/>
          </a:prstGeom>
          <a:solidFill>
            <a:srgbClr val="1E3163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7160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description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92808" y="1627632"/>
            <a:ext cx="164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57400" y="1298448"/>
            <a:ext cx="1572768" cy="1188720"/>
          </a:xfrm>
          <a:prstGeom prst="rect">
            <a:avLst/>
          </a:prstGeom>
          <a:solidFill>
            <a:srgbClr val="1E3163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57400" y="137160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1874520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features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unigrams+bigrams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30168" y="1627632"/>
            <a:ext cx="164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94760" y="1298448"/>
            <a:ext cx="1572768" cy="1188720"/>
          </a:xfrm>
          <a:prstGeom prst="rect">
            <a:avLst/>
          </a:prstGeom>
          <a:solidFill>
            <a:srgbClr val="1E3163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94760" y="137160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4760" y="1874520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60K job vectors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scores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67528" y="1627632"/>
            <a:ext cx="164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532120" y="1298448"/>
            <a:ext cx="1572768" cy="1188720"/>
          </a:xfrm>
          <a:prstGeom prst="rect">
            <a:avLst/>
          </a:prstGeom>
          <a:solidFill>
            <a:srgbClr val="1E3163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32120" y="137160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32120" y="1874520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type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104888" y="1627632"/>
            <a:ext cx="164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269480" y="1298448"/>
            <a:ext cx="1572768" cy="1188720"/>
          </a:xfrm>
          <a:prstGeom prst="rect">
            <a:avLst/>
          </a:prstGeom>
          <a:solidFill>
            <a:srgbClr val="1E3163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69480" y="137160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69480" y="1874520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850" dirty="0"/>
          </a:p>
        </p:txBody>
      </p:sp>
      <p:pic>
        <p:nvPicPr>
          <p:cNvPr id="25" name="Image 0" descr="/tmp/job_market_project/job-market-analysis-pro-8/assets/F1_recommendation_similarity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633472"/>
            <a:ext cx="8503920" cy="182880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26" name="Text 23"/>
          <p:cNvSpPr/>
          <p:nvPr/>
        </p:nvSpPr>
        <p:spPr>
          <a:xfrm>
            <a:off x="320040" y="4462272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— Cosine Similarity Scores for 3 Demo Queries (ML Engineer · React Dev · SEO Writer)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52244"/>
          </a:solidFill>
          <a:ln w="12700">
            <a:solidFill>
              <a:srgbClr val="15224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4320" y="488289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&amp; Recommendation System  ·  Upwork 244,828 Records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412480" y="488289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Market Trend Predictions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forecast for the coming quarter</a:t>
            </a:r>
            <a:endParaRPr lang="en-US" sz="1300" dirty="0"/>
          </a:p>
        </p:txBody>
      </p:sp>
      <p:pic>
        <p:nvPicPr>
          <p:cNvPr id="6" name="Image 0" descr="/tmp/job_market_project/job-market-analysis-pro-8/assets/F2_future_market_predi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61872"/>
            <a:ext cx="5120640" cy="33832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320040" y="4645152"/>
            <a:ext cx="5120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— Predicted Job Market Growth by Category (Next Quarter)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715000" y="1261872"/>
            <a:ext cx="3108960" cy="384048"/>
          </a:xfrm>
          <a:prstGeom prst="rect">
            <a:avLst/>
          </a:prstGeom>
          <a:solidFill>
            <a:srgbClr val="1E3163"/>
          </a:solidFill>
          <a:ln w="8890">
            <a:solidFill>
              <a:srgbClr val="2ECC7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06440" y="129844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Blockchain/Crypto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452360" y="1298448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046720" y="129844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$35/hr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715000" y="1691640"/>
            <a:ext cx="3108960" cy="384048"/>
          </a:xfrm>
          <a:prstGeom prst="rect">
            <a:avLst/>
          </a:prstGeom>
          <a:solidFill>
            <a:srgbClr val="1E3163"/>
          </a:solidFill>
          <a:ln w="8890">
            <a:solidFill>
              <a:srgbClr val="2ECC7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06440" y="172821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Science/AI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452360" y="1728216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046720" y="172821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$28/hr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715000" y="2121408"/>
            <a:ext cx="3108960" cy="384048"/>
          </a:xfrm>
          <a:prstGeom prst="rect">
            <a:avLst/>
          </a:prstGeom>
          <a:solidFill>
            <a:srgbClr val="1E3163"/>
          </a:solidFill>
          <a:ln w="8890">
            <a:solidFill>
              <a:srgbClr val="2ECC7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06440" y="215798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DevOps/Cloud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452360" y="215798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046720" y="2157984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$32/hr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715000" y="2551176"/>
            <a:ext cx="3108960" cy="384048"/>
          </a:xfrm>
          <a:prstGeom prst="rect">
            <a:avLst/>
          </a:prstGeom>
          <a:solidFill>
            <a:srgbClr val="1E3163"/>
          </a:solidFill>
          <a:ln w="8890">
            <a:solidFill>
              <a:srgbClr val="00C2C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06440" y="25877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452360" y="2587752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046720" y="258775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$20/hr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715000" y="2980944"/>
            <a:ext cx="3108960" cy="384048"/>
          </a:xfrm>
          <a:prstGeom prst="rect">
            <a:avLst/>
          </a:prstGeom>
          <a:solidFill>
            <a:srgbClr val="1E3163"/>
          </a:solidFill>
          <a:ln w="8890">
            <a:solidFill>
              <a:srgbClr val="00C2C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301752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452360" y="3017520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046720" y="301752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$26/hr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715000" y="3410712"/>
            <a:ext cx="3108960" cy="384048"/>
          </a:xfrm>
          <a:prstGeom prst="rect">
            <a:avLst/>
          </a:prstGeom>
          <a:solidFill>
            <a:srgbClr val="1E3163"/>
          </a:solidFill>
          <a:ln w="8890">
            <a:solidFill>
              <a:srgbClr val="F39C1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344728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Writing/Content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452360" y="3447288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−2%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046720" y="344728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$14/hr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715000" y="3840480"/>
            <a:ext cx="3108960" cy="384048"/>
          </a:xfrm>
          <a:prstGeom prst="rect">
            <a:avLst/>
          </a:prstGeom>
          <a:solidFill>
            <a:srgbClr val="1E3163"/>
          </a:solidFill>
          <a:ln w="8890">
            <a:solidFill>
              <a:srgbClr val="E74C3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06440" y="387705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Design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452360" y="3877056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−5%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046720" y="387705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$15/hr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5715000" y="4270248"/>
            <a:ext cx="3108960" cy="384048"/>
          </a:xfrm>
          <a:prstGeom prst="rect">
            <a:avLst/>
          </a:prstGeom>
          <a:solidFill>
            <a:srgbClr val="1E3163"/>
          </a:solidFill>
          <a:ln w="8890">
            <a:solidFill>
              <a:srgbClr val="E74C3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06440" y="430682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7452360" y="4306824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−8%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046720" y="4306824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$10/hr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52244"/>
          </a:solidFill>
          <a:ln w="12700">
            <a:solidFill>
              <a:srgbClr val="15224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274320" y="488289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&amp; Recommendation System  ·  Upwork 244,828 Records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8412480" y="488289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&amp; Key Findings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interactive app · No infrastructure required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4114800" cy="3291840"/>
          </a:xfrm>
          <a:prstGeom prst="rect">
            <a:avLst/>
          </a:prstGeom>
          <a:solidFill>
            <a:srgbClr val="1E3163"/>
          </a:solidFill>
          <a:ln w="12700">
            <a:solidFill>
              <a:srgbClr val="00C2CB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4114800" cy="32004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Pages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0784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Overview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1700784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job type split, monthly trends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231136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Job Recommender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223113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search + type/country filters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761488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Salary Analysis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2761488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plots &amp; violin plots by category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Country Insights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329184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bar chart + data table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822192"/>
            <a:ext cx="1645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Trends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03120" y="3822192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area + next-quarter bar chart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435254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deployment/app.py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1280160"/>
            <a:ext cx="4114800" cy="3291840"/>
          </a:xfrm>
          <a:prstGeom prst="rect">
            <a:avLst/>
          </a:prstGeom>
          <a:solidFill>
            <a:srgbClr val="1E316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280160"/>
            <a:ext cx="411480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16824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$15/hr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168249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median rate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21031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Top-paying country ($22.50/hr)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25237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+0.183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252374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 for 'machine learning'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29443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−0.214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29443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 for 'data entry'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33649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17920" y="336499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Blockchain/Crypto growth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0600" y="378561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&gt;0.78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0" y="378561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recommendation similarity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00600" y="4206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8–14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17920" y="4206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posting window (UTC)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52244"/>
          </a:solidFill>
          <a:ln w="12700">
            <a:solidFill>
              <a:srgbClr val="1522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882896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&amp; Recommendation System  ·  Upwork 244,828 Records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412480" y="4882896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21808" y="1109062"/>
            <a:ext cx="3383280" cy="3383280"/>
          </a:xfrm>
          <a:prstGeom prst="ellipse">
            <a:avLst/>
          </a:prstGeom>
          <a:solidFill>
            <a:srgbClr val="1E3163">
              <a:alpha val="80000"/>
            </a:srgbClr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4346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92671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Analysis &amp; Recommendation System</a:t>
            </a:r>
          </a:p>
          <a:p>
            <a:pPr marL="0" indent="0">
              <a:buNone/>
            </a:pPr>
            <a:endParaRPr lang="en-US" sz="1500" b="1" dirty="0">
              <a:solidFill>
                <a:srgbClr val="00C2C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4572000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457200" y="2176272"/>
            <a:ext cx="1463040" cy="868680"/>
          </a:xfrm>
          <a:prstGeom prst="rect">
            <a:avLst/>
          </a:prstGeom>
          <a:solidFill>
            <a:srgbClr val="1E3163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31136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244,828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67004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Analyzed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057400" y="2176272"/>
            <a:ext cx="1463040" cy="868680"/>
          </a:xfrm>
          <a:prstGeom prst="rect">
            <a:avLst/>
          </a:prstGeom>
          <a:solidFill>
            <a:srgbClr val="1E3163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2231136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57400" y="267004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Generated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0" y="2176272"/>
            <a:ext cx="1463040" cy="868680"/>
          </a:xfrm>
          <a:prstGeom prst="rect">
            <a:avLst/>
          </a:prstGeom>
          <a:solidFill>
            <a:srgbClr val="1E3163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231136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267004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227832"/>
            <a:ext cx="1463040" cy="868680"/>
          </a:xfrm>
          <a:prstGeom prst="rect">
            <a:avLst/>
          </a:prstGeom>
          <a:solidFill>
            <a:srgbClr val="1E3163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82696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372160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Models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057400" y="3227832"/>
            <a:ext cx="1463040" cy="868680"/>
          </a:xfrm>
          <a:prstGeom prst="rect">
            <a:avLst/>
          </a:prstGeom>
          <a:solidFill>
            <a:srgbClr val="1E3163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57400" y="3282696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57400" y="372160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Index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0" y="3227832"/>
            <a:ext cx="1463040" cy="868680"/>
          </a:xfrm>
          <a:prstGeom prst="rect">
            <a:avLst/>
          </a:prstGeom>
          <a:solidFill>
            <a:srgbClr val="1E3163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3282696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0" y="372160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App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00800" y="167792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Stack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23428" y="19705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Python · Pandas · NumPy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23428" y="232257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Scikit-learn · SciPy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23428" y="262696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Matplotlib · Seaborn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23428" y="2901989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TF-IDF · Cosine Similarity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23428" y="3241021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Streamlit · ReportLab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23428" y="350901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D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Polynomial Regression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52244"/>
          </a:solidFill>
          <a:ln w="12700">
            <a:solidFill>
              <a:srgbClr val="1522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82896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·  Job Market Analysis &amp; Recommendation System  ·  2024</a:t>
            </a:r>
            <a:endParaRPr lang="en-US" sz="8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3CCA4C-030F-0746-4552-FAABEE601C44}"/>
              </a:ext>
            </a:extLst>
          </p:cNvPr>
          <p:cNvSpPr txBox="1"/>
          <p:nvPr/>
        </p:nvSpPr>
        <p:spPr>
          <a:xfrm>
            <a:off x="438912" y="1218152"/>
            <a:ext cx="45790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Aishwarya Kumar Singh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aishsingh702@hmail.com</a:t>
            </a:r>
            <a:endParaRPr lang="en-US" sz="1400" b="1" dirty="0">
              <a:solidFill>
                <a:schemeClr val="accent6">
                  <a:lumMod val="40000"/>
                  <a:lumOff val="6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github.com/aishks14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1845</Words>
  <Application>Microsoft Office PowerPoint</Application>
  <PresentationFormat>On-screen Show (16:9)</PresentationFormat>
  <Paragraphs>423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Market Analysis &amp; Recommendation System</dc:title>
  <dc:subject>PptxGenJS Presentation</dc:subject>
  <dc:creator>NextHikes IT Solutions</dc:creator>
  <cp:lastModifiedBy>Aishwarya Kumar Singh</cp:lastModifiedBy>
  <cp:revision>6</cp:revision>
  <dcterms:created xsi:type="dcterms:W3CDTF">2026-04-20T23:04:52Z</dcterms:created>
  <dcterms:modified xsi:type="dcterms:W3CDTF">2026-04-20T23:20:46Z</dcterms:modified>
</cp:coreProperties>
</file>